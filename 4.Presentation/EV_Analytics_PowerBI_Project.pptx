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B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686800" y="640080"/>
            <a:ext cx="2743200" cy="146304"/>
          </a:xfrm>
          <a:prstGeom prst="rect">
            <a:avLst/>
          </a:prstGeom>
          <a:solidFill>
            <a:srgbClr val="49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281160" y="914400"/>
            <a:ext cx="2148840" cy="146304"/>
          </a:xfrm>
          <a:prstGeom prst="rect">
            <a:avLst/>
          </a:prstGeom>
          <a:solidFill>
            <a:srgbClr val="248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875520" y="1188720"/>
            <a:ext cx="1554480" cy="146304"/>
          </a:xfrm>
          <a:prstGeom prst="rect">
            <a:avLst/>
          </a:prstGeom>
          <a:solidFill>
            <a:srgbClr val="78B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097280"/>
            <a:ext cx="7863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1">
                <a:solidFill>
                  <a:srgbClr val="49BECC"/>
                </a:solidFill>
                <a:latin typeface="Aptos"/>
              </a:defRPr>
            </a:pPr>
            <a:r>
              <a:t>POWER BI • DATA ANALYTICS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868680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ptos"/>
              </a:defRPr>
            </a:pPr>
            <a:r>
              <a:t>ELECTRIC VEHICLE</a:t>
            </a:r>
            <a:br/>
            <a:r>
              <a:t>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474720"/>
            <a:ext cx="78638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100" b="0">
                <a:solidFill>
                  <a:srgbClr val="DAE8F4"/>
                </a:solidFill>
                <a:latin typeface="Aptos"/>
              </a:defRPr>
            </a:pPr>
            <a:r>
              <a:t>Market, technical performance, pricing,</a:t>
            </a:r>
            <a:br/>
            <a:r>
              <a:t>customer and safety insights</a:t>
            </a:r>
          </a:p>
        </p:txBody>
      </p:sp>
      <p:sp>
        <p:nvSpPr>
          <p:cNvPr id="8" name="Rectangle 7"/>
          <p:cNvSpPr/>
          <p:nvPr/>
        </p:nvSpPr>
        <p:spPr>
          <a:xfrm>
            <a:off x="786384" y="4709160"/>
            <a:ext cx="1097280" cy="54864"/>
          </a:xfrm>
          <a:prstGeom prst="rect">
            <a:avLst/>
          </a:prstGeom>
          <a:solidFill>
            <a:srgbClr val="49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5010912"/>
            <a:ext cx="8046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t>Dashboard walkthrough and data-quality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172200"/>
            <a:ext cx="7315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00" b="0">
                <a:solidFill>
                  <a:srgbClr val="B9CBDC"/>
                </a:solidFill>
                <a:latin typeface="Aptos"/>
              </a:defRPr>
            </a:pPr>
            <a:r>
              <a:t>Built from the provided Power BI dashboard screenshots and EV_dataset.csv</a:t>
            </a:r>
          </a:p>
        </p:txBody>
      </p:sp>
      <p:pic>
        <p:nvPicPr>
          <p:cNvPr id="11" name="Picture 10" descr="Screenshot 2026-10-11 1050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828800"/>
            <a:ext cx="4160520" cy="234029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500" b="1">
                <a:solidFill>
                  <a:srgbClr val="122B48"/>
                </a:solidFill>
                <a:latin typeface="Aptos"/>
              </a:defRPr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68096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00" b="0">
                <a:solidFill>
                  <a:srgbClr val="647482"/>
                </a:solidFill>
                <a:latin typeface="Aptos"/>
              </a:defRPr>
            </a:pPr>
            <a:r>
              <a:t>A four-page Power BI report for exploring EV market and vehicle characteristics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78992"/>
            <a:ext cx="1143000" cy="50292"/>
          </a:xfrm>
          <a:prstGeom prst="rect">
            <a:avLst/>
          </a:prstGeom>
          <a:solidFill>
            <a:srgbClr val="49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417320"/>
            <a:ext cx="5303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500" b="1">
                <a:solidFill>
                  <a:srgbClr val="2480D2"/>
                </a:solidFill>
                <a:latin typeface="Aptos"/>
              </a:defRPr>
            </a:pPr>
            <a:r>
              <a:t>WHAT THE REPORT COVERS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874519"/>
            <a:ext cx="52578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A3744"/>
                </a:solidFill>
                <a:latin typeface="Aptos"/>
              </a:defRPr>
            </a:pPr>
            <a:r>
              <a:t>Market overview: manufacturer coverage, vehicle types, release-year trend and country distribution.</a:t>
            </a:r>
          </a:p>
          <a:p>
            <a:pPr>
              <a:spcAft>
                <a:spcPts val="1200"/>
              </a:spcAft>
              <a:defRPr sz="1600">
                <a:solidFill>
                  <a:srgbClr val="2A3744"/>
                </a:solidFill>
                <a:latin typeface="Aptos"/>
              </a:defRPr>
            </a:pPr>
            <a:r>
              <a:t>Technical performance: speed, acceleration, efficiency, safety rating and driving range.</a:t>
            </a:r>
          </a:p>
          <a:p>
            <a:pPr>
              <a:spcAft>
                <a:spcPts val="1200"/>
              </a:spcAft>
              <a:defRPr sz="1600">
                <a:solidFill>
                  <a:srgbClr val="2A3744"/>
                </a:solidFill>
                <a:latin typeface="Aptos"/>
              </a:defRPr>
            </a:pPr>
            <a:r>
              <a:t>Market and pricing: price comparisons by vehicle type and relationships between price and range.</a:t>
            </a:r>
          </a:p>
          <a:p>
            <a:pPr>
              <a:spcAft>
                <a:spcPts val="1200"/>
              </a:spcAft>
              <a:defRPr sz="1600">
                <a:solidFill>
                  <a:srgbClr val="2A3744"/>
                </a:solidFill>
                <a:latin typeface="Aptos"/>
              </a:defRPr>
            </a:pPr>
            <a:r>
              <a:t>Customer and safety: seating, cargo space and safety metrics, with slicers for exploration.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417320"/>
            <a:ext cx="4937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500" b="1">
                <a:solidFill>
                  <a:srgbClr val="2480D2"/>
                </a:solidFill>
                <a:latin typeface="Aptos"/>
              </a:defRPr>
            </a:pPr>
            <a:r>
              <a:t>HOW TO USE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1874519"/>
            <a:ext cx="48920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A3744"/>
                </a:solidFill>
                <a:latin typeface="Aptos"/>
              </a:defRPr>
            </a:pPr>
            <a:r>
              <a:t>Start with KPI cards for a quick summary.</a:t>
            </a:r>
          </a:p>
          <a:p>
            <a:pPr>
              <a:spcAft>
                <a:spcPts val="1200"/>
              </a:spcAft>
              <a:defRPr sz="1600">
                <a:solidFill>
                  <a:srgbClr val="2A3744"/>
                </a:solidFill>
                <a:latin typeface="Aptos"/>
              </a:defRPr>
            </a:pPr>
            <a:r>
              <a:t>Use charts to compare manufacturers and vehicle categories.</a:t>
            </a:r>
          </a:p>
          <a:p>
            <a:pPr>
              <a:spcAft>
                <a:spcPts val="1200"/>
              </a:spcAft>
              <a:defRPr sz="1600">
                <a:solidFill>
                  <a:srgbClr val="2A3744"/>
                </a:solidFill>
                <a:latin typeface="Aptos"/>
              </a:defRPr>
            </a:pPr>
            <a:r>
              <a:t>Apply country, manufacturer, type, drive type and release-year slicers.</a:t>
            </a:r>
          </a:p>
          <a:p>
            <a:pPr>
              <a:spcAft>
                <a:spcPts val="1200"/>
              </a:spcAft>
              <a:defRPr sz="1600">
                <a:solidFill>
                  <a:srgbClr val="2A3744"/>
                </a:solidFill>
                <a:latin typeface="Aptos"/>
              </a:defRPr>
            </a:pPr>
            <a:r>
              <a:t>Validate aggregation and units before drawing business conclusions.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5166360"/>
            <a:ext cx="2514600" cy="822960"/>
          </a:xfrm>
          <a:prstGeom prst="roundRect">
            <a:avLst/>
          </a:prstGeom>
          <a:solidFill>
            <a:srgbClr val="EBF4FB"/>
          </a:solidFill>
          <a:ln>
            <a:solidFill>
              <a:srgbClr val="D7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5800" y="5166360"/>
            <a:ext cx="64008" cy="822960"/>
          </a:xfrm>
          <a:prstGeom prst="rect">
            <a:avLst/>
          </a:prstGeom>
          <a:solidFill>
            <a:srgbClr val="248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5312664"/>
            <a:ext cx="219456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00" b="1">
                <a:solidFill>
                  <a:srgbClr val="647482"/>
                </a:solidFill>
                <a:latin typeface="Aptos"/>
              </a:defRPr>
            </a:pPr>
            <a:r>
              <a:t>DATASET ROWS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605272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000" b="1">
                <a:solidFill>
                  <a:srgbClr val="122B48"/>
                </a:solidFill>
                <a:latin typeface="Aptos"/>
              </a:defRPr>
            </a:pPr>
            <a:r>
              <a:t>250,000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5166360"/>
            <a:ext cx="2514600" cy="822960"/>
          </a:xfrm>
          <a:prstGeom prst="roundRect">
            <a:avLst/>
          </a:prstGeom>
          <a:solidFill>
            <a:srgbClr val="EBF4FB"/>
          </a:solidFill>
          <a:ln>
            <a:solidFill>
              <a:srgbClr val="D7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83280" y="5166360"/>
            <a:ext cx="64008" cy="822960"/>
          </a:xfrm>
          <a:prstGeom prst="rect">
            <a:avLst/>
          </a:prstGeom>
          <a:solidFill>
            <a:srgbClr val="49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66160" y="5312664"/>
            <a:ext cx="219456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00" b="1">
                <a:solidFill>
                  <a:srgbClr val="647482"/>
                </a:solidFill>
                <a:latin typeface="Aptos"/>
              </a:defRPr>
            </a:pPr>
            <a:r>
              <a:t>FIELDS / COLUMNS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5605272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000" b="1">
                <a:solidFill>
                  <a:srgbClr val="122B48"/>
                </a:solidFill>
                <a:latin typeface="Aptos"/>
              </a:defRPr>
            </a:pPr>
            <a:r>
              <a:t>22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0760" y="5166360"/>
            <a:ext cx="2514600" cy="822960"/>
          </a:xfrm>
          <a:prstGeom prst="roundRect">
            <a:avLst/>
          </a:prstGeom>
          <a:solidFill>
            <a:srgbClr val="EBF4FB"/>
          </a:solidFill>
          <a:ln>
            <a:solidFill>
              <a:srgbClr val="D7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080760" y="5166360"/>
            <a:ext cx="64008" cy="822960"/>
          </a:xfrm>
          <a:prstGeom prst="rect">
            <a:avLst/>
          </a:prstGeom>
          <a:solidFill>
            <a:srgbClr val="009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63640" y="5312664"/>
            <a:ext cx="219456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00" b="1">
                <a:solidFill>
                  <a:srgbClr val="647482"/>
                </a:solidFill>
                <a:latin typeface="Aptos"/>
              </a:defRPr>
            </a:pPr>
            <a:r>
              <a:t>NUMERIC FIELDS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5605272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000" b="1">
                <a:solidFill>
                  <a:srgbClr val="122B48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78240" y="5166360"/>
            <a:ext cx="2514600" cy="822960"/>
          </a:xfrm>
          <a:prstGeom prst="roundRect">
            <a:avLst/>
          </a:prstGeom>
          <a:solidFill>
            <a:srgbClr val="EBF4FB"/>
          </a:solidFill>
          <a:ln>
            <a:solidFill>
              <a:srgbClr val="D7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778240" y="5166360"/>
            <a:ext cx="64008" cy="822960"/>
          </a:xfrm>
          <a:prstGeom prst="rect">
            <a:avLst/>
          </a:prstGeom>
          <a:solidFill>
            <a:srgbClr val="DC9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961119" y="5312664"/>
            <a:ext cx="219456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00" b="1">
                <a:solidFill>
                  <a:srgbClr val="647482"/>
                </a:solidFill>
                <a:latin typeface="Aptos"/>
              </a:defRPr>
            </a:pPr>
            <a:r>
              <a:t>REPORT PAGES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19" y="5605272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000" b="1">
                <a:solidFill>
                  <a:srgbClr val="122B48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" y="6537960"/>
            <a:ext cx="8229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800" b="1">
                <a:solidFill>
                  <a:srgbClr val="647482"/>
                </a:solidFill>
                <a:latin typeface="Aptos"/>
              </a:defRPr>
            </a:pPr>
            <a:r>
              <a:t>EV ANALYSIS  •  POWER BI PROJECT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510528"/>
            <a:ext cx="548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647482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500" b="1">
                <a:solidFill>
                  <a:srgbClr val="122B48"/>
                </a:solidFill>
                <a:latin typeface="Aptos"/>
              </a:defRPr>
            </a:pPr>
            <a:r>
              <a:t>Dataset and key measures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68096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00" b="0">
                <a:solidFill>
                  <a:srgbClr val="647482"/>
                </a:solidFill>
                <a:latin typeface="Aptos"/>
              </a:defRPr>
            </a:pPr>
            <a:r>
              <a:t>The provided CSV is the source for the Power BI report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78992"/>
            <a:ext cx="1143000" cy="50292"/>
          </a:xfrm>
          <a:prstGeom prst="rect">
            <a:avLst/>
          </a:prstGeom>
          <a:solidFill>
            <a:srgbClr val="49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500" b="1">
                <a:solidFill>
                  <a:srgbClr val="2480D2"/>
                </a:solidFill>
                <a:latin typeface="Aptos"/>
              </a:defRPr>
            </a:pPr>
            <a:r>
              <a:t>EXAMPLE FIELD GROUPS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74519"/>
            <a:ext cx="4983480" cy="603504"/>
          </a:xfrm>
          <a:prstGeom prst="roundRect">
            <a:avLst/>
          </a:prstGeom>
          <a:solidFill>
            <a:srgbClr val="EBF4FB"/>
          </a:solidFill>
          <a:ln>
            <a:solidFill>
              <a:srgbClr val="D7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874519"/>
            <a:ext cx="64008" cy="603504"/>
          </a:xfrm>
          <a:prstGeom prst="rect">
            <a:avLst/>
          </a:prstGeom>
          <a:solidFill>
            <a:srgbClr val="248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2020824"/>
            <a:ext cx="466344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00" b="1">
                <a:solidFill>
                  <a:srgbClr val="647482"/>
                </a:solidFill>
                <a:latin typeface="Aptos"/>
              </a:defRPr>
            </a:pPr>
            <a:r>
              <a:t>VEHICLE IDENTITY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13432"/>
            <a:ext cx="4663440" cy="10058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000" b="1">
                <a:solidFill>
                  <a:srgbClr val="122B48"/>
                </a:solidFill>
                <a:latin typeface="Aptos"/>
              </a:defRPr>
            </a:pPr>
            <a:r>
              <a:rPr dirty="0"/>
              <a:t>manufacturer, model, type, </a:t>
            </a:r>
            <a:r>
              <a:rPr dirty="0" err="1"/>
              <a:t>release_year</a:t>
            </a:r>
            <a:endParaRPr dirty="0"/>
          </a:p>
        </p:txBody>
      </p:sp>
      <p:sp>
        <p:nvSpPr>
          <p:cNvPr id="10" name="Rounded Rectangle 9"/>
          <p:cNvSpPr/>
          <p:nvPr/>
        </p:nvSpPr>
        <p:spPr>
          <a:xfrm>
            <a:off x="685800" y="2633472"/>
            <a:ext cx="4983480" cy="603504"/>
          </a:xfrm>
          <a:prstGeom prst="roundRect">
            <a:avLst/>
          </a:prstGeom>
          <a:solidFill>
            <a:srgbClr val="EBF4FB"/>
          </a:solidFill>
          <a:ln>
            <a:solidFill>
              <a:srgbClr val="D7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85800" y="2633472"/>
            <a:ext cx="64008" cy="603504"/>
          </a:xfrm>
          <a:prstGeom prst="rect">
            <a:avLst/>
          </a:prstGeom>
          <a:solidFill>
            <a:srgbClr val="49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2779776"/>
            <a:ext cx="466344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00" b="1">
                <a:solidFill>
                  <a:srgbClr val="647482"/>
                </a:solidFill>
                <a:latin typeface="Aptos"/>
              </a:defRPr>
            </a:pPr>
            <a:r>
              <a:t>PERFORMANCE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072384"/>
            <a:ext cx="4663440" cy="10058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000" b="1">
                <a:solidFill>
                  <a:srgbClr val="122B48"/>
                </a:solidFill>
                <a:latin typeface="Aptos"/>
              </a:defRPr>
            </a:pPr>
            <a:r>
              <a:t>top_speed_kmph, range_km, efficiency_score, battery_kwh, charging_time_hr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392424"/>
            <a:ext cx="4983480" cy="603504"/>
          </a:xfrm>
          <a:prstGeom prst="roundRect">
            <a:avLst/>
          </a:prstGeom>
          <a:solidFill>
            <a:srgbClr val="EBF4FB"/>
          </a:solidFill>
          <a:ln>
            <a:solidFill>
              <a:srgbClr val="D7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85800" y="3392424"/>
            <a:ext cx="64008" cy="603504"/>
          </a:xfrm>
          <a:prstGeom prst="rect">
            <a:avLst/>
          </a:prstGeom>
          <a:solidFill>
            <a:srgbClr val="009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3538728"/>
            <a:ext cx="466344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00" b="1">
                <a:solidFill>
                  <a:srgbClr val="647482"/>
                </a:solidFill>
                <a:latin typeface="Aptos"/>
              </a:defRPr>
            </a:pPr>
            <a:r>
              <a:t>PRICING &amp; OWNERSHIP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831335"/>
            <a:ext cx="4663440" cy="10058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000" b="1">
                <a:solidFill>
                  <a:srgbClr val="122B48"/>
                </a:solidFill>
                <a:latin typeface="Aptos"/>
              </a:defRPr>
            </a:pPr>
            <a:r>
              <a:t>price_usd, warranty_years, cargo_space_liters, seats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151375"/>
            <a:ext cx="4983480" cy="603504"/>
          </a:xfrm>
          <a:prstGeom prst="roundRect">
            <a:avLst/>
          </a:prstGeom>
          <a:solidFill>
            <a:srgbClr val="EBF4FB"/>
          </a:solidFill>
          <a:ln>
            <a:solidFill>
              <a:srgbClr val="D7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85800" y="4151375"/>
            <a:ext cx="64008" cy="603504"/>
          </a:xfrm>
          <a:prstGeom prst="rect">
            <a:avLst/>
          </a:prstGeom>
          <a:solidFill>
            <a:srgbClr val="DC9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" y="4297679"/>
            <a:ext cx="466344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00" b="1">
                <a:solidFill>
                  <a:srgbClr val="647482"/>
                </a:solidFill>
                <a:latin typeface="Aptos"/>
              </a:defRPr>
            </a:pPr>
            <a:r>
              <a:t>CONTEXT &amp; FEATURES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590288"/>
            <a:ext cx="4663440" cy="10058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000" b="1">
                <a:solidFill>
                  <a:srgbClr val="122B48"/>
                </a:solidFill>
                <a:latin typeface="Aptos"/>
              </a:defRPr>
            </a:pPr>
            <a:r>
              <a:t>country, city, drive_type, fuel_type, fast_charging, safety_rating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141732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500" b="1">
                <a:solidFill>
                  <a:srgbClr val="2480D2"/>
                </a:solidFill>
                <a:latin typeface="Aptos"/>
              </a:defRPr>
            </a:pPr>
            <a:r>
              <a:t>KPI INTERPRETATION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1874519"/>
            <a:ext cx="51206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500">
                <a:solidFill>
                  <a:srgbClr val="2A3744"/>
                </a:solidFill>
                <a:latin typeface="Aptos"/>
              </a:defRPr>
            </a:pPr>
            <a:r>
              <a:t>Count of EV records: use a distinct vehicle identifier if one exists; otherwise label as record count.</a:t>
            </a:r>
          </a:p>
          <a:p>
            <a:pPr>
              <a:spcAft>
                <a:spcPts val="1100"/>
              </a:spcAft>
              <a:defRPr sz="1500">
                <a:solidFill>
                  <a:srgbClr val="2A3744"/>
                </a:solidFill>
                <a:latin typeface="Aptos"/>
              </a:defRPr>
            </a:pPr>
            <a:r>
              <a:t>Average price and range: confirm the aggregation is Average, not Sum.</a:t>
            </a:r>
          </a:p>
          <a:p>
            <a:pPr>
              <a:spcAft>
                <a:spcPts val="1100"/>
              </a:spcAft>
              <a:defRPr sz="1500">
                <a:solidFill>
                  <a:srgbClr val="2A3744"/>
                </a:solidFill>
                <a:latin typeface="Aptos"/>
              </a:defRPr>
            </a:pPr>
            <a:r>
              <a:t>Average safety rating and efficiency: clarify the scale and direction of better performance.</a:t>
            </a:r>
          </a:p>
          <a:p>
            <a:pPr>
              <a:spcAft>
                <a:spcPts val="1100"/>
              </a:spcAft>
              <a:defRPr sz="1500">
                <a:solidFill>
                  <a:srgbClr val="2A3744"/>
                </a:solidFill>
                <a:latin typeface="Aptos"/>
              </a:defRPr>
            </a:pPr>
            <a:r>
              <a:t>Use consistent units and currency labels on every page.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48640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00" b="0">
                <a:solidFill>
                  <a:srgbClr val="647482"/>
                </a:solidFill>
                <a:latin typeface="Aptos"/>
              </a:defRPr>
            </a:pPr>
            <a:r>
              <a:t>Note: The KPI values shown in the screenshots are reproduced as dashboard context, not independently certified business facts.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" y="6537960"/>
            <a:ext cx="8229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800" b="1">
                <a:solidFill>
                  <a:srgbClr val="647482"/>
                </a:solidFill>
                <a:latin typeface="Aptos"/>
              </a:defRPr>
            </a:pPr>
            <a:r>
              <a:t>EV ANALYSIS  •  POWER BI PROJECT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510528"/>
            <a:ext cx="548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647482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500" b="1">
                <a:solidFill>
                  <a:srgbClr val="122B48"/>
                </a:solidFill>
                <a:latin typeface="Aptos"/>
              </a:defRPr>
            </a:pPr>
            <a:r>
              <a:t>01  Market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68096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00" b="0">
                <a:solidFill>
                  <a:srgbClr val="647482"/>
                </a:solidFill>
                <a:latin typeface="Aptos"/>
              </a:defRPr>
            </a:pPr>
            <a:r>
              <a:t>Portfolio-level view of manufacturers, vehicle types, geography and release-year patterns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78992"/>
            <a:ext cx="1143000" cy="50292"/>
          </a:xfrm>
          <a:prstGeom prst="rect">
            <a:avLst/>
          </a:prstGeom>
          <a:solidFill>
            <a:srgbClr val="49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Screenshot 2026-10-11 1050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7367" y="1417320"/>
            <a:ext cx="8696959" cy="4892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0352" y="6537960"/>
            <a:ext cx="8229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800" b="1">
                <a:solidFill>
                  <a:srgbClr val="647482"/>
                </a:solidFill>
                <a:latin typeface="Aptos"/>
              </a:defRPr>
            </a:pPr>
            <a:r>
              <a:t>EV ANALYSIS  •  POWER BI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0528"/>
            <a:ext cx="548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647482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500" b="1">
                <a:solidFill>
                  <a:srgbClr val="122B48"/>
                </a:solidFill>
                <a:latin typeface="Aptos"/>
              </a:defRPr>
            </a:pPr>
            <a:r>
              <a:t>02  Technical &amp; Performance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68096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00" b="0">
                <a:solidFill>
                  <a:srgbClr val="647482"/>
                </a:solidFill>
                <a:latin typeface="Aptos"/>
              </a:defRPr>
            </a:pPr>
            <a:r>
              <a:t>Performance KPIs and manufacturer/category comparisons, plus interactive filters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78992"/>
            <a:ext cx="1143000" cy="50292"/>
          </a:xfrm>
          <a:prstGeom prst="rect">
            <a:avLst/>
          </a:prstGeom>
          <a:solidFill>
            <a:srgbClr val="49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Screenshot 2026-10-11 1050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7367" y="1417320"/>
            <a:ext cx="8696959" cy="4892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0352" y="6537960"/>
            <a:ext cx="8229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800" b="1">
                <a:solidFill>
                  <a:srgbClr val="647482"/>
                </a:solidFill>
                <a:latin typeface="Aptos"/>
              </a:defRPr>
            </a:pPr>
            <a:r>
              <a:t>EV ANALYSIS  •  POWER BI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0528"/>
            <a:ext cx="548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647482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500" b="1">
                <a:solidFill>
                  <a:srgbClr val="122B48"/>
                </a:solidFill>
                <a:latin typeface="Aptos"/>
              </a:defRPr>
            </a:pPr>
            <a:r>
              <a:t>03  Market &amp; Pricing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68096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00" b="0">
                <a:solidFill>
                  <a:srgbClr val="647482"/>
                </a:solidFill>
                <a:latin typeface="Aptos"/>
              </a:defRPr>
            </a:pPr>
            <a:r>
              <a:t>Price KPIs, vehicle-type comparisons, price-versus-range relationship and filters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78992"/>
            <a:ext cx="1143000" cy="50292"/>
          </a:xfrm>
          <a:prstGeom prst="rect">
            <a:avLst/>
          </a:prstGeom>
          <a:solidFill>
            <a:srgbClr val="49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Screenshot 2026-10-11 10505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7367" y="1417320"/>
            <a:ext cx="8696959" cy="4892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0352" y="6537960"/>
            <a:ext cx="8229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800" b="1">
                <a:solidFill>
                  <a:srgbClr val="647482"/>
                </a:solidFill>
                <a:latin typeface="Aptos"/>
              </a:defRPr>
            </a:pPr>
            <a:r>
              <a:t>EV ANALYSIS  •  POWER BI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0528"/>
            <a:ext cx="548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647482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500" b="1">
                <a:solidFill>
                  <a:srgbClr val="122B48"/>
                </a:solidFill>
                <a:latin typeface="Aptos"/>
              </a:defRPr>
            </a:pPr>
            <a:r>
              <a:t>04  Customer &amp; Safety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68096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00" b="0">
                <a:solidFill>
                  <a:srgbClr val="647482"/>
                </a:solidFill>
                <a:latin typeface="Aptos"/>
              </a:defRPr>
            </a:pPr>
            <a:r>
              <a:t>Safety, seating capacity and cargo-space comparisons with market filters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78992"/>
            <a:ext cx="1143000" cy="50292"/>
          </a:xfrm>
          <a:prstGeom prst="rect">
            <a:avLst/>
          </a:prstGeom>
          <a:solidFill>
            <a:srgbClr val="49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Screenshot 2026-10-11 1051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7367" y="1417320"/>
            <a:ext cx="8696959" cy="4892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0352" y="6537960"/>
            <a:ext cx="8229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800" b="1">
                <a:solidFill>
                  <a:srgbClr val="647482"/>
                </a:solidFill>
                <a:latin typeface="Aptos"/>
              </a:defRPr>
            </a:pPr>
            <a:r>
              <a:t>EV ANALYSIS  •  POWER BI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0528"/>
            <a:ext cx="548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647482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500" b="1">
                <a:solidFill>
                  <a:srgbClr val="122B48"/>
                </a:solidFill>
                <a:latin typeface="Aptos"/>
              </a:defRPr>
            </a:pPr>
            <a:r>
              <a:t>What the dashboard helps investigate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68096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00" b="0">
                <a:solidFill>
                  <a:srgbClr val="647482"/>
                </a:solidFill>
                <a:latin typeface="Aptos"/>
              </a:defRPr>
            </a:pPr>
            <a:r>
              <a:t>Use these as analysis questions, not conclusions without validating the underlying measures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78992"/>
            <a:ext cx="1143000" cy="50292"/>
          </a:xfrm>
          <a:prstGeom prst="rect">
            <a:avLst/>
          </a:prstGeom>
          <a:solidFill>
            <a:srgbClr val="49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3413761" cy="1371600"/>
          </a:xfrm>
          <a:prstGeom prst="roundRect">
            <a:avLst/>
          </a:prstGeom>
          <a:solidFill>
            <a:srgbClr val="EBF4FB"/>
          </a:solidFill>
          <a:ln>
            <a:solidFill>
              <a:srgbClr val="D7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64008" cy="1051560"/>
          </a:xfrm>
          <a:prstGeom prst="rect">
            <a:avLst/>
          </a:prstGeom>
          <a:solidFill>
            <a:srgbClr val="248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563624"/>
            <a:ext cx="310896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00" b="1">
                <a:solidFill>
                  <a:srgbClr val="647482"/>
                </a:solidFill>
                <a:latin typeface="Aptos"/>
              </a:defRPr>
            </a:pPr>
            <a:r>
              <a:t>MARKET COVERAGE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856232"/>
            <a:ext cx="3108960" cy="548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000" b="1">
                <a:solidFill>
                  <a:srgbClr val="122B48"/>
                </a:solidFill>
                <a:latin typeface="Aptos"/>
              </a:defRPr>
            </a:pPr>
            <a:r>
              <a:rPr dirty="0"/>
              <a:t>Which makers and vehicle types are represented?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17320"/>
            <a:ext cx="3429000" cy="1371600"/>
          </a:xfrm>
          <a:prstGeom prst="roundRect">
            <a:avLst/>
          </a:prstGeom>
          <a:solidFill>
            <a:srgbClr val="EBF4FB"/>
          </a:solidFill>
          <a:ln>
            <a:solidFill>
              <a:srgbClr val="D7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0" y="1417320"/>
            <a:ext cx="64008" cy="1051560"/>
          </a:xfrm>
          <a:prstGeom prst="rect">
            <a:avLst/>
          </a:prstGeom>
          <a:solidFill>
            <a:srgbClr val="49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1563624"/>
            <a:ext cx="310896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00" b="1">
                <a:solidFill>
                  <a:srgbClr val="647482"/>
                </a:solidFill>
                <a:latin typeface="Aptos"/>
              </a:defRPr>
            </a:pPr>
            <a:r>
              <a:t>PERFORMANCE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856232"/>
            <a:ext cx="3108960" cy="548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000" b="1">
                <a:solidFill>
                  <a:srgbClr val="122B48"/>
                </a:solidFill>
                <a:latin typeface="Aptos"/>
              </a:defRPr>
            </a:pPr>
            <a:r>
              <a:t>How do range and efficiency vary across makers?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417320"/>
            <a:ext cx="3410712" cy="1371600"/>
          </a:xfrm>
          <a:prstGeom prst="roundRect">
            <a:avLst/>
          </a:prstGeom>
          <a:solidFill>
            <a:srgbClr val="EBF4FB"/>
          </a:solidFill>
          <a:ln>
            <a:solidFill>
              <a:srgbClr val="D7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92440" y="1417320"/>
            <a:ext cx="64008" cy="1051560"/>
          </a:xfrm>
          <a:prstGeom prst="rect">
            <a:avLst/>
          </a:prstGeom>
          <a:solidFill>
            <a:srgbClr val="009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75319" y="1563624"/>
            <a:ext cx="310896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00" b="1">
                <a:solidFill>
                  <a:srgbClr val="647482"/>
                </a:solidFill>
                <a:latin typeface="Aptos"/>
              </a:defRPr>
            </a:pPr>
            <a:r>
              <a:t>PRICING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19" y="1856232"/>
            <a:ext cx="3108960" cy="548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000" b="1">
                <a:solidFill>
                  <a:srgbClr val="122B48"/>
                </a:solidFill>
                <a:latin typeface="Aptos"/>
              </a:defRPr>
            </a:pPr>
            <a:r>
              <a:t>Does price differ by vehicle type or range?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88036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500" b="1">
                <a:solidFill>
                  <a:srgbClr val="2480D2"/>
                </a:solidFill>
                <a:latin typeface="Aptos"/>
              </a:defRPr>
            </a:pPr>
            <a:r>
              <a:t>RECOMMENDED ANALYSIS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337560"/>
            <a:ext cx="52120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A3744"/>
                </a:solidFill>
                <a:latin typeface="Aptos"/>
              </a:defRPr>
            </a:pPr>
            <a:r>
              <a:t>Compare averages and medians to reduce the effect of outliers.</a:t>
            </a:r>
          </a:p>
          <a:p>
            <a:pPr>
              <a:spcAft>
                <a:spcPts val="1000"/>
              </a:spcAft>
              <a:defRPr sz="1500">
                <a:solidFill>
                  <a:srgbClr val="2A3744"/>
                </a:solidFill>
                <a:latin typeface="Aptos"/>
              </a:defRPr>
            </a:pPr>
            <a:r>
              <a:t>Use manufacturer and vehicle-type filters to make like-for-like comparisons.</a:t>
            </a:r>
          </a:p>
          <a:p>
            <a:pPr>
              <a:spcAft>
                <a:spcPts val="1000"/>
              </a:spcAft>
              <a:defRPr sz="1500">
                <a:solidFill>
                  <a:srgbClr val="2A3744"/>
                </a:solidFill>
                <a:latin typeface="Aptos"/>
              </a:defRPr>
            </a:pPr>
            <a:r>
              <a:t>Check whether release-year values represent actual model counts or a different measure.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88036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500" b="1">
                <a:solidFill>
                  <a:srgbClr val="2480D2"/>
                </a:solidFill>
                <a:latin typeface="Aptos"/>
              </a:defRPr>
            </a:pPr>
            <a:r>
              <a:t>PRESENTATION IMPROVEMENTS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3337560"/>
            <a:ext cx="48920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A3744"/>
                </a:solidFill>
                <a:latin typeface="Aptos"/>
              </a:defRPr>
            </a:pPr>
            <a:r>
              <a:t>Use descriptive axis titles and units.</a:t>
            </a:r>
          </a:p>
          <a:p>
            <a:pPr>
              <a:spcAft>
                <a:spcPts val="1000"/>
              </a:spcAft>
              <a:defRPr sz="1500">
                <a:solidFill>
                  <a:srgbClr val="2A3744"/>
                </a:solidFill>
                <a:latin typeface="Aptos"/>
              </a:defRPr>
            </a:pPr>
            <a:r>
              <a:t>Avoid truncated chart titles and crowded legends.</a:t>
            </a:r>
          </a:p>
          <a:p>
            <a:pPr>
              <a:spcAft>
                <a:spcPts val="1000"/>
              </a:spcAft>
              <a:defRPr sz="1500">
                <a:solidFill>
                  <a:srgbClr val="2A3744"/>
                </a:solidFill>
                <a:latin typeface="Aptos"/>
              </a:defRPr>
            </a:pPr>
            <a:r>
              <a:t>Use consistent colors for the same metrics across all pages.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" y="6537960"/>
            <a:ext cx="8229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800" b="1">
                <a:solidFill>
                  <a:srgbClr val="647482"/>
                </a:solidFill>
                <a:latin typeface="Aptos"/>
              </a:defRPr>
            </a:pPr>
            <a:r>
              <a:t>EV ANALYSIS  •  POWER BI PROJECT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510528"/>
            <a:ext cx="548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647482"/>
                </a:solidFill>
                <a:latin typeface="Apto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500" b="1">
                <a:solidFill>
                  <a:srgbClr val="122B48"/>
                </a:solidFill>
                <a:latin typeface="Aptos"/>
              </a:defRPr>
            </a:pPr>
            <a:r>
              <a:t>Data-quality checks before presenting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68096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00" b="0">
                <a:solidFill>
                  <a:srgbClr val="647482"/>
                </a:solidFill>
                <a:latin typeface="Aptos"/>
              </a:defRPr>
            </a:pPr>
            <a:r>
              <a:t>A few displayed values and aggregations deserve validation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78992"/>
            <a:ext cx="1143000" cy="50292"/>
          </a:xfrm>
          <a:prstGeom prst="rect">
            <a:avLst/>
          </a:prstGeom>
          <a:solidFill>
            <a:srgbClr val="49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500" b="1">
                <a:solidFill>
                  <a:srgbClr val="2480D2"/>
                </a:solidFill>
                <a:latin typeface="Aptos"/>
              </a:defRPr>
            </a:pPr>
            <a:r>
              <a:t>CHECK THESE ITEMS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5257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2A3744"/>
                </a:solidFill>
                <a:latin typeface="Aptos"/>
              </a:defRPr>
            </a:pPr>
            <a:r>
              <a:t>Market &amp; Pricing page shows a minimum price of −5K. Confirm whether negative prices are valid, a placeholder, or a data-quality issue.</a:t>
            </a:r>
          </a:p>
          <a:p>
            <a:pPr>
              <a:spcAft>
                <a:spcPts val="1200"/>
              </a:spcAft>
              <a:defRPr sz="1400">
                <a:solidFill>
                  <a:srgbClr val="2A3744"/>
                </a:solidFill>
                <a:latin typeface="Aptos"/>
              </a:defRPr>
            </a:pPr>
            <a:r>
              <a:t>Several charts show axes such as “Sum of price_usd” or “Sum of range_km”; sums may be misleading for vehicle-level comparisons.</a:t>
            </a:r>
          </a:p>
          <a:p>
            <a:pPr>
              <a:spcAft>
                <a:spcPts val="1200"/>
              </a:spcAft>
              <a:defRPr sz="1400">
                <a:solidFill>
                  <a:srgbClr val="2A3744"/>
                </a:solidFill>
                <a:latin typeface="Aptos"/>
              </a:defRPr>
            </a:pPr>
            <a:r>
              <a:t>Some KPI labels use abbreviated or truncated text. Expand titles and state units clearly.</a:t>
            </a:r>
          </a:p>
          <a:p>
            <a:pPr>
              <a:spcAft>
                <a:spcPts val="1200"/>
              </a:spcAft>
              <a:defRPr sz="1400">
                <a:solidFill>
                  <a:srgbClr val="2A3744"/>
                </a:solidFill>
                <a:latin typeface="Aptos"/>
              </a:defRPr>
            </a:pPr>
            <a:r>
              <a:t>Safety-rating and efficiency charts appear nearly uniform in the screenshots; verify the field placed in Values and the intended aggregation.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5080" y="141732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500" b="1">
                <a:solidFill>
                  <a:srgbClr val="2480D2"/>
                </a:solidFill>
                <a:latin typeface="Aptos"/>
              </a:defRPr>
            </a:pPr>
            <a:r>
              <a:t>VALIDATION CHECKLIST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874519"/>
            <a:ext cx="48463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2A3744"/>
                </a:solidFill>
                <a:latin typeface="Aptos"/>
              </a:defRPr>
            </a:pPr>
            <a:r>
              <a:t>Inspect nulls, duplicates and invalid negative values in Power Query.</a:t>
            </a:r>
          </a:p>
          <a:p>
            <a:pPr>
              <a:spcAft>
                <a:spcPts val="1200"/>
              </a:spcAft>
              <a:defRPr sz="1400">
                <a:solidFill>
                  <a:srgbClr val="2A3744"/>
                </a:solidFill>
                <a:latin typeface="Aptos"/>
              </a:defRPr>
            </a:pPr>
            <a:r>
              <a:t>Confirm whether each row is a vehicle model, trim, or market observation.</a:t>
            </a:r>
          </a:p>
          <a:p>
            <a:pPr>
              <a:spcAft>
                <a:spcPts val="1200"/>
              </a:spcAft>
              <a:defRPr sz="1400">
                <a:solidFill>
                  <a:srgbClr val="2A3744"/>
                </a:solidFill>
                <a:latin typeface="Aptos"/>
              </a:defRPr>
            </a:pPr>
            <a:r>
              <a:t>Create explicit measures for record count, average price, average range and other KPIs.</a:t>
            </a:r>
          </a:p>
          <a:p>
            <a:pPr>
              <a:spcAft>
                <a:spcPts val="1200"/>
              </a:spcAft>
              <a:defRPr sz="1400">
                <a:solidFill>
                  <a:srgbClr val="2A3744"/>
                </a:solidFill>
                <a:latin typeface="Aptos"/>
              </a:defRPr>
            </a:pPr>
            <a:r>
              <a:t>Add currency/unit formatting and useful tooltips.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6537960"/>
            <a:ext cx="8229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800" b="1">
                <a:solidFill>
                  <a:srgbClr val="647482"/>
                </a:solidFill>
                <a:latin typeface="Aptos"/>
              </a:defRPr>
            </a:pPr>
            <a:r>
              <a:t>EV ANALYSIS  •  POWER BI 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510528"/>
            <a:ext cx="548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647482"/>
                </a:solidFill>
                <a:latin typeface="Apto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B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9436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"/>
              </a:defRPr>
            </a:pPr>
            <a:r>
              <a:t>CONCLUSION &amp;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749808" y="1170432"/>
            <a:ext cx="1143000" cy="54864"/>
          </a:xfrm>
          <a:prstGeom prst="rect">
            <a:avLst/>
          </a:prstGeom>
          <a:solidFill>
            <a:srgbClr val="49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ptos"/>
              </a:defRPr>
            </a:pPr>
            <a:r>
              <a:t>A strong multi-page foundation for EV market exploration.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423160"/>
            <a:ext cx="100584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E1EDF7"/>
                </a:solidFill>
                <a:latin typeface="Aptos"/>
              </a:defRPr>
            </a:pPr>
            <a:r>
              <a:t>Validate data quality and measure definitions before interpreting KPIs.</a:t>
            </a:r>
          </a:p>
          <a:p>
            <a:pPr>
              <a:spcAft>
                <a:spcPts val="1400"/>
              </a:spcAft>
              <a:defRPr sz="1700">
                <a:solidFill>
                  <a:srgbClr val="E1EDF7"/>
                </a:solidFill>
                <a:latin typeface="Aptos"/>
              </a:defRPr>
            </a:pPr>
            <a:r>
              <a:t>Replace misleading sums with averages, medians or counts appropriate to each question.</a:t>
            </a:r>
          </a:p>
          <a:p>
            <a:pPr>
              <a:spcAft>
                <a:spcPts val="1400"/>
              </a:spcAft>
              <a:defRPr sz="1700">
                <a:solidFill>
                  <a:srgbClr val="E1EDF7"/>
                </a:solidFill>
                <a:latin typeface="Aptos"/>
              </a:defRPr>
            </a:pPr>
            <a:r>
              <a:t>Improve readability with consistent formatting, labels, units and color semantics.</a:t>
            </a:r>
          </a:p>
          <a:p>
            <a:pPr>
              <a:spcAft>
                <a:spcPts val="1400"/>
              </a:spcAft>
              <a:defRPr sz="1700">
                <a:solidFill>
                  <a:srgbClr val="E1EDF7"/>
                </a:solidFill>
                <a:latin typeface="Aptos"/>
              </a:defRPr>
            </a:pPr>
            <a:r>
              <a:t>Use slicers to compare comparable segments and document the key findings from each view.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989320"/>
            <a:ext cx="9875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400" b="1">
                <a:solidFill>
                  <a:srgbClr val="49BECC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0528"/>
            <a:ext cx="548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B9CBDC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814</Words>
  <Application>Microsoft Office PowerPoint</Application>
  <PresentationFormat>Widescreen</PresentationFormat>
  <Paragraphs>102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Amanaganti Venky</cp:lastModifiedBy>
  <cp:revision>3</cp:revision>
  <dcterms:created xsi:type="dcterms:W3CDTF">2013-01-27T09:14:16Z</dcterms:created>
  <dcterms:modified xsi:type="dcterms:W3CDTF">2026-10-11T05:33:53Z</dcterms:modified>
  <cp:category/>
</cp:coreProperties>
</file>